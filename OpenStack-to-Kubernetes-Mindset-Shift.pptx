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537960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>
                <a:solidFill>
                  <a:srgbClr val="6B7280"/>
                </a:solidFill>
                <a:latin typeface="Calibri"/>
              </a:rPr>
              <a:t>Summit | 2026-02-23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943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000" b="1">
                <a:solidFill>
                  <a:srgbClr val="1F2933"/>
                </a:solidFill>
                <a:latin typeface="Calibri"/>
              </a:rPr>
              <a:t>From Server Thinking → Platform Thinking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5544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>
                <a:solidFill>
                  <a:srgbClr val="6B7280"/>
                </a:solidFill>
                <a:latin typeface="Calibri"/>
              </a:rPr>
              <a:t>OpenStack → Kubernetes Mindset Shift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3317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1F2933"/>
                </a:solidFill>
                <a:latin typeface="Calibri"/>
              </a:defRPr>
            </a:pPr>
            <a:r>
              <a:t>Summit | 2026-02-23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537960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>
                <a:solidFill>
                  <a:srgbClr val="6B7280"/>
                </a:solidFill>
                <a:latin typeface="Calibri"/>
              </a:rPr>
              <a:t>Summit | 2026-02-23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943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000" b="1">
                <a:solidFill>
                  <a:srgbClr val="1F2933"/>
                </a:solidFill>
                <a:latin typeface="Calibri"/>
              </a:rPr>
              <a:t>This migration is a mindset change, not a tooling swap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96596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>
                <a:solidFill>
                  <a:srgbClr val="1F2933"/>
                </a:solidFill>
                <a:latin typeface="Calibri"/>
              </a:defRPr>
            </a:pPr>
            <a:r>
              <a:t>Delivery speed vs. operational safety</a:t>
            </a:r>
          </a:p>
          <a:p>
            <a:pPr>
              <a:defRPr sz="2600">
                <a:solidFill>
                  <a:srgbClr val="1F2933"/>
                </a:solidFill>
                <a:latin typeface="Calibri"/>
              </a:defRPr>
            </a:pPr>
            <a:r>
              <a:t>Standardization vs. snowflakes</a:t>
            </a:r>
          </a:p>
          <a:p>
            <a:pPr>
              <a:defRPr sz="2600">
                <a:solidFill>
                  <a:srgbClr val="1F2933"/>
                </a:solidFill>
                <a:latin typeface="Calibri"/>
              </a:defRPr>
            </a:pPr>
            <a:r>
              <a:t>Auditability &amp; repeatability</a:t>
            </a:r>
          </a:p>
          <a:p>
            <a:pPr>
              <a:defRPr sz="2600">
                <a:solidFill>
                  <a:srgbClr val="1F2933"/>
                </a:solidFill>
                <a:latin typeface="Calibri"/>
              </a:defRPr>
            </a:pPr>
            <a:r>
              <a:t>Reliability through automation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5760720"/>
            <a:ext cx="10789920" cy="548640"/>
          </a:xfrm>
          <a:prstGeom prst="roundRect">
            <a:avLst/>
          </a:prstGeom>
          <a:solidFill>
            <a:srgbClr val="F3F4F6"/>
          </a:solidFill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800" b="1">
                <a:solidFill>
                  <a:srgbClr val="1F4E79"/>
                </a:solidFill>
                <a:latin typeface="Calibri"/>
              </a:rPr>
              <a:t>Goal: adopt platform behaviors—declare intent and let the system reconcile.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537960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>
                <a:solidFill>
                  <a:srgbClr val="6B7280"/>
                </a:solidFill>
                <a:latin typeface="Calibri"/>
              </a:rPr>
              <a:t>Summit | 2026-02-23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943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000" b="1">
                <a:solidFill>
                  <a:srgbClr val="1F2933"/>
                </a:solidFill>
                <a:latin typeface="Calibri"/>
              </a:rPr>
              <a:t>What you optimize for changes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65960"/>
            <a:ext cx="5577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F4E79"/>
                </a:solidFill>
                <a:latin typeface="Calibri"/>
              </a:rPr>
              <a:t>OpenStack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1965960"/>
            <a:ext cx="5577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F4E79"/>
                </a:solidFill>
                <a:latin typeface="Calibri"/>
              </a:rPr>
              <a:t>Kubernetes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514600"/>
            <a:ext cx="55778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>
                <a:solidFill>
                  <a:srgbClr val="1F2933"/>
                </a:solidFill>
                <a:latin typeface="Calibri"/>
              </a:defRPr>
            </a:pPr>
            <a:r>
              <a:t>VMs</a:t>
            </a:r>
          </a:p>
          <a:p>
            <a:pPr>
              <a:defRPr sz="2600">
                <a:solidFill>
                  <a:srgbClr val="1F2933"/>
                </a:solidFill>
                <a:latin typeface="Calibri"/>
              </a:defRPr>
            </a:pPr>
            <a:r>
              <a:t>IP addresses</a:t>
            </a:r>
          </a:p>
          <a:p>
            <a:pPr>
              <a:defRPr sz="2600">
                <a:solidFill>
                  <a:srgbClr val="1F2933"/>
                </a:solidFill>
                <a:latin typeface="Calibri"/>
              </a:defRPr>
            </a:pPr>
            <a:r>
              <a:t>Security groups</a:t>
            </a:r>
          </a:p>
          <a:p>
            <a:pPr>
              <a:defRPr sz="2600">
                <a:solidFill>
                  <a:srgbClr val="1F2933"/>
                </a:solidFill>
                <a:latin typeface="Calibri"/>
              </a:defRPr>
            </a:pPr>
            <a:r>
              <a:t>SSH access</a:t>
            </a:r>
          </a:p>
          <a:p>
            <a:pPr>
              <a:defRPr sz="2600">
                <a:solidFill>
                  <a:srgbClr val="1F2933"/>
                </a:solidFill>
                <a:latin typeface="Calibri"/>
              </a:defRPr>
            </a:pPr>
            <a:r>
              <a:t>Server configuration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2514600"/>
            <a:ext cx="55778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>
                <a:solidFill>
                  <a:srgbClr val="1F2933"/>
                </a:solidFill>
                <a:latin typeface="Calibri"/>
              </a:defRPr>
            </a:pPr>
            <a:r>
              <a:t>Pods</a:t>
            </a:r>
          </a:p>
          <a:p>
            <a:pPr>
              <a:defRPr sz="2600">
                <a:solidFill>
                  <a:srgbClr val="1F2933"/>
                </a:solidFill>
                <a:latin typeface="Calibri"/>
              </a:defRPr>
            </a:pPr>
            <a:r>
              <a:t>Deployments</a:t>
            </a:r>
          </a:p>
          <a:p>
            <a:pPr>
              <a:defRPr sz="2600">
                <a:solidFill>
                  <a:srgbClr val="1F2933"/>
                </a:solidFill>
                <a:latin typeface="Calibri"/>
              </a:defRPr>
            </a:pPr>
            <a:r>
              <a:t>Services</a:t>
            </a:r>
          </a:p>
          <a:p>
            <a:pPr>
              <a:defRPr sz="2600">
                <a:solidFill>
                  <a:srgbClr val="1F2933"/>
                </a:solidFill>
                <a:latin typeface="Calibri"/>
              </a:defRPr>
            </a:pPr>
            <a:r>
              <a:t>Ingress</a:t>
            </a:r>
          </a:p>
          <a:p>
            <a:pPr>
              <a:defRPr sz="2600">
                <a:solidFill>
                  <a:srgbClr val="1F2933"/>
                </a:solidFill>
                <a:latin typeface="Calibri"/>
              </a:defRPr>
            </a:pPr>
            <a:r>
              <a:t>Desired state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69379" y="2468880"/>
            <a:ext cx="27432" cy="475488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59893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1F4E79"/>
                </a:solidFill>
                <a:latin typeface="Calibri"/>
              </a:rPr>
              <a:t>Stop managing servers → Start declaring outcomes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537960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>
                <a:solidFill>
                  <a:srgbClr val="6B7280"/>
                </a:solidFill>
                <a:latin typeface="Calibri"/>
              </a:rPr>
              <a:t>Summit | 2026-02-23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943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000" b="1">
                <a:solidFill>
                  <a:srgbClr val="1F2933"/>
                </a:solidFill>
                <a:latin typeface="Calibri"/>
              </a:rPr>
              <a:t>OpenStack mindset: “I own this server”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96596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>
                <a:solidFill>
                  <a:srgbClr val="1F2933"/>
                </a:solidFill>
                <a:latin typeface="Calibri"/>
              </a:defRPr>
            </a:pPr>
            <a:r>
              <a:t>Provision VM</a:t>
            </a:r>
          </a:p>
          <a:p>
            <a:pPr>
              <a:defRPr sz="2600">
                <a:solidFill>
                  <a:srgbClr val="1F2933"/>
                </a:solidFill>
                <a:latin typeface="Calibri"/>
              </a:defRPr>
            </a:pPr>
            <a:r>
              <a:t>SSH into it</a:t>
            </a:r>
          </a:p>
          <a:p>
            <a:pPr>
              <a:defRPr sz="2600">
                <a:solidFill>
                  <a:srgbClr val="1F2933"/>
                </a:solidFill>
                <a:latin typeface="Calibri"/>
              </a:defRPr>
            </a:pPr>
            <a:r>
              <a:t>Install + configure</a:t>
            </a:r>
          </a:p>
          <a:p>
            <a:pPr>
              <a:defRPr sz="2600">
                <a:solidFill>
                  <a:srgbClr val="1F2933"/>
                </a:solidFill>
                <a:latin typeface="Calibri"/>
              </a:defRPr>
            </a:pPr>
            <a:r>
              <a:t>Start services</a:t>
            </a:r>
          </a:p>
          <a:p>
            <a:pPr>
              <a:defRPr sz="2600">
                <a:solidFill>
                  <a:srgbClr val="1F2933"/>
                </a:solidFill>
                <a:latin typeface="Calibri"/>
              </a:defRPr>
            </a:pPr>
            <a:r>
              <a:t>Debug on the machine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5760720"/>
            <a:ext cx="10789920" cy="548640"/>
          </a:xfrm>
          <a:prstGeom prst="roundRect">
            <a:avLst/>
          </a:prstGeom>
          <a:solidFill>
            <a:srgbClr val="F3F4F6"/>
          </a:solidFill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800" b="1">
                <a:solidFill>
                  <a:srgbClr val="1F4E79"/>
                </a:solidFill>
                <a:latin typeface="Calibri"/>
              </a:rPr>
              <a:t>Pets: patch, care, nurse back to health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537960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>
                <a:solidFill>
                  <a:srgbClr val="6B7280"/>
                </a:solidFill>
                <a:latin typeface="Calibri"/>
              </a:rPr>
              <a:t>Summit | 2026-02-23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943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000" b="1">
                <a:solidFill>
                  <a:srgbClr val="1F2933"/>
                </a:solidFill>
                <a:latin typeface="Calibri"/>
              </a:rPr>
              <a:t>Kubernetes mindset: “The cluster owns everything”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96596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>
                <a:solidFill>
                  <a:srgbClr val="1F2933"/>
                </a:solidFill>
                <a:latin typeface="Calibri"/>
              </a:defRPr>
            </a:pPr>
            <a:r>
              <a:t>Define Deployment YAML / Helm</a:t>
            </a:r>
          </a:p>
          <a:p>
            <a:pPr>
              <a:defRPr sz="2600">
                <a:solidFill>
                  <a:srgbClr val="1F2933"/>
                </a:solidFill>
                <a:latin typeface="Calibri"/>
              </a:defRPr>
            </a:pPr>
            <a:r>
              <a:t>Set image + replicas + resources</a:t>
            </a:r>
          </a:p>
          <a:p>
            <a:pPr>
              <a:defRPr sz="2600">
                <a:solidFill>
                  <a:srgbClr val="1F2933"/>
                </a:solidFill>
                <a:latin typeface="Calibri"/>
              </a:defRPr>
            </a:pPr>
            <a:r>
              <a:t>Push to Git</a:t>
            </a:r>
          </a:p>
          <a:p>
            <a:pPr>
              <a:defRPr sz="2600">
                <a:solidFill>
                  <a:srgbClr val="1F2933"/>
                </a:solidFill>
                <a:latin typeface="Calibri"/>
              </a:defRPr>
            </a:pPr>
            <a:r>
              <a:t>Cluster reconciles desired state</a:t>
            </a:r>
          </a:p>
          <a:p>
            <a:pPr>
              <a:defRPr sz="2600">
                <a:solidFill>
                  <a:srgbClr val="1F2933"/>
                </a:solidFill>
                <a:latin typeface="Calibri"/>
              </a:defRPr>
            </a:pPr>
            <a:r>
              <a:t>Pods self-heal automatically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5760720"/>
            <a:ext cx="10789920" cy="548640"/>
          </a:xfrm>
          <a:prstGeom prst="roundRect">
            <a:avLst/>
          </a:prstGeom>
          <a:solidFill>
            <a:srgbClr val="F3F4F6"/>
          </a:solidFill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800" b="1">
                <a:solidFill>
                  <a:srgbClr val="1F4E79"/>
                </a:solidFill>
                <a:latin typeface="Calibri"/>
              </a:rPr>
              <a:t>No SSH into pods. Fix by changing spec or image, then redeploy state.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537960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>
                <a:solidFill>
                  <a:srgbClr val="6B7280"/>
                </a:solidFill>
                <a:latin typeface="Calibri"/>
              </a:rPr>
              <a:t>Summit | 2026-02-23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943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000" b="1">
                <a:solidFill>
                  <a:srgbClr val="1F2933"/>
                </a:solidFill>
                <a:latin typeface="Calibri"/>
              </a:rPr>
              <a:t>Imperative actions vs. declarative intent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65960"/>
            <a:ext cx="5577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F4E79"/>
                </a:solidFill>
                <a:latin typeface="Calibri"/>
              </a:rPr>
              <a:t>OpenStack (imperative)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1965960"/>
            <a:ext cx="5577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F4E79"/>
                </a:solidFill>
                <a:latin typeface="Calibri"/>
              </a:rPr>
              <a:t>Kubernetes (declarative)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514600"/>
            <a:ext cx="55778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>
                <a:solidFill>
                  <a:srgbClr val="1F2933"/>
                </a:solidFill>
                <a:latin typeface="Calibri"/>
              </a:defRPr>
            </a:pPr>
            <a:r>
              <a:t>“Run this playbook”</a:t>
            </a:r>
          </a:p>
          <a:p>
            <a:pPr>
              <a:defRPr sz="2600">
                <a:solidFill>
                  <a:srgbClr val="1F2933"/>
                </a:solidFill>
                <a:latin typeface="Calibri"/>
              </a:defRPr>
            </a:pPr>
            <a:r>
              <a:t>“Create this instance”</a:t>
            </a:r>
          </a:p>
          <a:p>
            <a:pPr>
              <a:defRPr sz="2600">
                <a:solidFill>
                  <a:srgbClr val="1F2933"/>
                </a:solidFill>
                <a:latin typeface="Calibri"/>
              </a:defRPr>
            </a:pPr>
            <a:r>
              <a:t>“Restart this service”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2514600"/>
            <a:ext cx="55778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>
                <a:solidFill>
                  <a:srgbClr val="1F2933"/>
                </a:solidFill>
                <a:latin typeface="Calibri"/>
              </a:defRPr>
            </a:pPr>
            <a:r>
              <a:t>“This is what I want”</a:t>
            </a:r>
          </a:p>
          <a:p>
            <a:pPr>
              <a:defRPr sz="2600">
                <a:solidFill>
                  <a:srgbClr val="1F2933"/>
                </a:solidFill>
                <a:latin typeface="Calibri"/>
              </a:defRPr>
            </a:pPr>
            <a:r>
              <a:t>“Always keep 3 replicas”</a:t>
            </a:r>
          </a:p>
          <a:p>
            <a:pPr>
              <a:defRPr sz="2600">
                <a:solidFill>
                  <a:srgbClr val="1F2933"/>
                </a:solidFill>
                <a:latin typeface="Calibri"/>
              </a:defRPr>
            </a:pPr>
            <a:r>
              <a:t>“If it dies, recreate it”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69379" y="2468880"/>
            <a:ext cx="27432" cy="475488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59893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1F4E79"/>
                </a:solidFill>
                <a:latin typeface="Calibri"/>
              </a:rPr>
              <a:t>Kubernetes is a continuous reconciliation system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537960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>
                <a:solidFill>
                  <a:srgbClr val="6B7280"/>
                </a:solidFill>
                <a:latin typeface="Calibri"/>
              </a:rPr>
              <a:t>Summit | 2026-02-23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943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000" b="1">
                <a:solidFill>
                  <a:srgbClr val="1F2933"/>
                </a:solidFill>
                <a:latin typeface="Calibri"/>
              </a:rPr>
              <a:t>Drift is replaced by immutability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96596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>
                <a:solidFill>
                  <a:srgbClr val="1F2933"/>
                </a:solidFill>
                <a:latin typeface="Calibri"/>
              </a:defRPr>
            </a:pPr>
            <a:r>
              <a:t>OpenStack: configure at runtime (drift risk)</a:t>
            </a:r>
          </a:p>
          <a:p>
            <a:pPr>
              <a:defRPr sz="2600">
                <a:solidFill>
                  <a:srgbClr val="1F2933"/>
                </a:solidFill>
                <a:latin typeface="Calibri"/>
              </a:defRPr>
            </a:pPr>
            <a:r>
              <a:t>Kubernetes: immutable images (build once)</a:t>
            </a:r>
          </a:p>
          <a:p>
            <a:pPr>
              <a:defRPr sz="2600">
                <a:solidFill>
                  <a:srgbClr val="1F2933"/>
                </a:solidFill>
                <a:latin typeface="Calibri"/>
              </a:defRPr>
            </a:pPr>
            <a:r>
              <a:t>Minimal runtime configuration</a:t>
            </a:r>
          </a:p>
          <a:p>
            <a:pPr>
              <a:defRPr sz="2600">
                <a:solidFill>
                  <a:srgbClr val="1F2933"/>
                </a:solidFill>
                <a:latin typeface="Calibri"/>
              </a:defRPr>
            </a:pPr>
            <a:r>
              <a:t>Versioned deployments + rollbacks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5760720"/>
            <a:ext cx="10789920" cy="548640"/>
          </a:xfrm>
          <a:prstGeom prst="roundRect">
            <a:avLst/>
          </a:prstGeom>
          <a:solidFill>
            <a:srgbClr val="F3F4F6"/>
          </a:solidFill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800" b="1">
                <a:solidFill>
                  <a:srgbClr val="1F4E79"/>
                </a:solidFill>
                <a:latin typeface="Calibri"/>
              </a:rPr>
              <a:t>Enterprise win: repeatable artifacts, safer rollouts, cleaner audits.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537960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>
                <a:solidFill>
                  <a:srgbClr val="6B7280"/>
                </a:solidFill>
                <a:latin typeface="Calibri"/>
              </a:rPr>
              <a:t>Summit | 2026-02-23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943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000" b="1">
                <a:solidFill>
                  <a:srgbClr val="1F2933"/>
                </a:solidFill>
                <a:latin typeface="Calibri"/>
              </a:rPr>
              <a:t>GitOps: change control becomes deployment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96596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>
                <a:solidFill>
                  <a:srgbClr val="1F2933"/>
                </a:solidFill>
                <a:latin typeface="Calibri"/>
              </a:defRPr>
            </a:pPr>
            <a:r>
              <a:t>Git = source of truth</a:t>
            </a:r>
          </a:p>
          <a:p>
            <a:pPr>
              <a:defRPr sz="2600">
                <a:solidFill>
                  <a:srgbClr val="1F2933"/>
                </a:solidFill>
                <a:latin typeface="Calibri"/>
              </a:defRPr>
            </a:pPr>
            <a:r>
              <a:t>PR merge = deployment</a:t>
            </a:r>
          </a:p>
          <a:p>
            <a:pPr>
              <a:defRPr sz="2600">
                <a:solidFill>
                  <a:srgbClr val="1F2933"/>
                </a:solidFill>
                <a:latin typeface="Calibri"/>
              </a:defRPr>
            </a:pPr>
            <a:r>
              <a:t>Drift auto-corrected</a:t>
            </a:r>
          </a:p>
          <a:p>
            <a:pPr>
              <a:defRPr sz="2600">
                <a:solidFill>
                  <a:srgbClr val="1F2933"/>
                </a:solidFill>
                <a:latin typeface="Calibri"/>
              </a:defRPr>
            </a:pPr>
            <a:r>
              <a:t>Rollback = revert commit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5760720"/>
            <a:ext cx="10789920" cy="548640"/>
          </a:xfrm>
          <a:prstGeom prst="roundRect">
            <a:avLst/>
          </a:prstGeom>
          <a:solidFill>
            <a:srgbClr val="F3F4F6"/>
          </a:solidFill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800" b="1">
                <a:solidFill>
                  <a:srgbClr val="1F4E79"/>
                </a:solidFill>
                <a:latin typeface="Calibri"/>
              </a:rPr>
              <a:t>Operate the platform via pull requests—not by logging into environments.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537960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>
                <a:solidFill>
                  <a:srgbClr val="6B7280"/>
                </a:solidFill>
                <a:latin typeface="Calibri"/>
              </a:rPr>
              <a:t>Summit | 2026-02-23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943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000" b="1">
                <a:solidFill>
                  <a:srgbClr val="1F2933"/>
                </a:solidFill>
                <a:latin typeface="Calibri"/>
              </a:rPr>
              <a:t>Networking becomes service-oriented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65960"/>
            <a:ext cx="5577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F4E79"/>
                </a:solidFill>
                <a:latin typeface="Calibri"/>
              </a:rPr>
              <a:t>OpenStack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1965960"/>
            <a:ext cx="5577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F4E79"/>
                </a:solidFill>
                <a:latin typeface="Calibri"/>
              </a:rPr>
              <a:t>Kubernetes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514600"/>
            <a:ext cx="55778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>
                <a:solidFill>
                  <a:srgbClr val="1F2933"/>
                </a:solidFill>
                <a:latin typeface="Calibri"/>
              </a:defRPr>
            </a:pPr>
            <a:r>
              <a:t>Security groups</a:t>
            </a:r>
          </a:p>
          <a:p>
            <a:pPr>
              <a:defRPr sz="2600">
                <a:solidFill>
                  <a:srgbClr val="1F2933"/>
                </a:solidFill>
                <a:latin typeface="Calibri"/>
              </a:defRPr>
            </a:pPr>
            <a:r>
              <a:t>Floating IPs</a:t>
            </a:r>
          </a:p>
          <a:p>
            <a:pPr>
              <a:defRPr sz="2600">
                <a:solidFill>
                  <a:srgbClr val="1F2933"/>
                </a:solidFill>
                <a:latin typeface="Calibri"/>
              </a:defRPr>
            </a:pPr>
            <a:r>
              <a:t>Port mappings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2514600"/>
            <a:ext cx="55778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>
                <a:solidFill>
                  <a:srgbClr val="1F2933"/>
                </a:solidFill>
                <a:latin typeface="Calibri"/>
              </a:defRPr>
            </a:pPr>
            <a:r>
              <a:t>Services</a:t>
            </a:r>
          </a:p>
          <a:p>
            <a:pPr>
              <a:defRPr sz="2600">
                <a:solidFill>
                  <a:srgbClr val="1F2933"/>
                </a:solidFill>
                <a:latin typeface="Calibri"/>
              </a:defRPr>
            </a:pPr>
            <a:r>
              <a:t>Ingress controllers</a:t>
            </a:r>
          </a:p>
          <a:p>
            <a:pPr>
              <a:defRPr sz="2600">
                <a:solidFill>
                  <a:srgbClr val="1F2933"/>
                </a:solidFill>
                <a:latin typeface="Calibri"/>
              </a:defRPr>
            </a:pPr>
            <a:r>
              <a:t>NetworkPolicies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69379" y="2468880"/>
            <a:ext cx="27432" cy="475488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59893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1F4E79"/>
                </a:solidFill>
                <a:latin typeface="Calibri"/>
              </a:rPr>
              <a:t>Shift: service identity + policy, not host perimeter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537960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>
                <a:solidFill>
                  <a:srgbClr val="6B7280"/>
                </a:solidFill>
                <a:latin typeface="Calibri"/>
              </a:rPr>
              <a:t>Summit | 2026-02-23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943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000" b="1">
                <a:solidFill>
                  <a:srgbClr val="1F2933"/>
                </a:solidFill>
                <a:latin typeface="Calibri"/>
              </a:rPr>
              <a:t>The real shift is who you become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96596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>
                <a:solidFill>
                  <a:srgbClr val="1F2933"/>
                </a:solidFill>
                <a:latin typeface="Calibri"/>
              </a:defRPr>
            </a:pPr>
            <a:r>
              <a:t>From server admin → platform engineer</a:t>
            </a:r>
          </a:p>
          <a:p>
            <a:pPr>
              <a:defRPr sz="2600">
                <a:solidFill>
                  <a:srgbClr val="1F2933"/>
                </a:solidFill>
                <a:latin typeface="Calibri"/>
              </a:defRPr>
            </a:pPr>
            <a:r>
              <a:t>From fixing machines → designing workloads</a:t>
            </a:r>
          </a:p>
          <a:p>
            <a:pPr>
              <a:defRPr sz="2600">
                <a:solidFill>
                  <a:srgbClr val="1F2933"/>
                </a:solidFill>
                <a:latin typeface="Calibri"/>
              </a:defRPr>
            </a:pPr>
            <a:r>
              <a:t>From manual ops → automated control loops</a:t>
            </a:r>
          </a:p>
          <a:p>
            <a:pPr>
              <a:defRPr sz="2600">
                <a:solidFill>
                  <a:srgbClr val="1F2933"/>
                </a:solidFill>
                <a:latin typeface="Calibri"/>
              </a:defRPr>
            </a:pPr>
            <a:r>
              <a:t>From tickets → pull requests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5760720"/>
            <a:ext cx="10789920" cy="548640"/>
          </a:xfrm>
          <a:prstGeom prst="roundRect">
            <a:avLst/>
          </a:prstGeom>
          <a:solidFill>
            <a:srgbClr val="F3F4F6"/>
          </a:solidFill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800" b="1">
                <a:solidFill>
                  <a:srgbClr val="1F4E79"/>
                </a:solidFill>
                <a:latin typeface="Calibri"/>
              </a:rPr>
              <a:t>Infrastructure becomes code. Deployments become reconciliations.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